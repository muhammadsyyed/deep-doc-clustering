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BAC8-1F2C-B3EA-A905-DB6899CD2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91CAD-5496-51C5-1237-A71113EF3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C2337-E1A6-3188-2B9D-56B7A25B6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AC205-93E8-D541-5F6C-33FC1C5E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D70AF-A5D2-756A-8B05-BD71991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2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DB4D-6E91-316B-0E34-F0A0F011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45A82-FDBA-4FA0-73D4-72209088F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D98E6-F8C6-32C2-8565-554FBD2D1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80311-A571-F4A3-F263-8E8252FAF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04CF4-1DD8-61A0-02D1-4281B706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50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3139-AB6D-52B0-8063-F9D1727B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2E455-3589-FEE9-274C-C7FF64E91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57B71-F4DD-6B53-0F13-FC0E9FEA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1BA39-6FDA-32D0-19BC-B2CD96CE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A4A50-82FD-7FDD-1346-D74A8EA8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0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EBAD-2514-6470-CEFC-6C1D62F6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5EA1-83B1-6936-69BE-7A4F7E8D0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7956E-3454-D4EF-EABA-7C0790205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A594C-ED4A-D16B-7817-14599681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9F8A4-A679-2182-FD86-C05685E0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76384-D76F-DCBC-4E1E-BE1C4921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825C-DC00-DE34-0C07-4A67A9588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652B2-1AF6-A129-571A-F546F781A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A7835-D47E-3D5E-1ED3-7B54672E7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A7050-5AF8-0D05-E5C4-88F2A56DD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EF967-3471-C0B5-62C5-A6AC02214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20168-622F-C742-FBE5-45A25D79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1268F-DD27-431F-F2E2-C9AF8086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E204D-E7E6-637F-55F8-CEEB81F9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6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91E0-6F0F-7D8F-1470-EF1C8F40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C6799-E54C-6FC3-BBD5-C1C70C4A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A311D-9FF7-4378-FAB0-C3874CA8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D8C1-4A6C-DCF2-76B7-6837D1EF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64027-023F-D892-EB97-DE1F9835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08525-0E33-380E-F46C-EA0C66A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EAA4-DD6A-7654-BAA3-59726007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7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DC3ED-6D5F-FB66-E23E-81D913F4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7C3AF-07DF-3901-32DC-78E771992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4568E-6502-B143-1AAD-C1AE03C54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86C23-1B9E-E23B-A984-F1B5C2CA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D039F-A707-8D6E-870B-DEDEC394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994CA-3DCE-9927-F0C1-DAA4E9C9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2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B454-C8E0-E7AA-939A-0F882A89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3F943-D84A-0D92-35EC-44CDD68DD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56D20-6055-4E1D-3E86-D3D846613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E7B7E-36B0-E7CA-D8C5-BF325D9A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89391-C4E5-D086-A05F-B6C03381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30DFD-B720-148F-14E7-A26F031C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4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58CB-173D-7D98-5A0D-EC02BAF9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36186-139A-BC3D-AF53-DBB627AAE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4C798-AC04-C567-5D9B-46606F91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5BE30-1685-950B-A2A0-4D74A16A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9F7E8-A3BE-875E-9D94-CB569E1C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4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5C2C8-5759-B3A9-FF4E-E943D2896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698BD-2DD4-D22B-A4C8-A064C44E3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471EB-015C-F7AF-89B1-4EC47203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33CA1-80AE-3743-52F6-D7C11762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EFCBB-155E-4EC4-44F2-9968EEFBF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9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7C10C-4BF6-6E86-98DF-398DA690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E8F2F-777C-AF7F-E93C-928AF14AD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BE5C8-D403-AD81-AAC4-70BBA3528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3E711-63E0-456A-AE4F-7EAC9BCB24A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15E89-FD9F-4145-F868-B53BBAAF9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4F6D5-4DF3-5842-8A21-E925C9A10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778F6-A4DD-4400-BDCB-7D6FF3037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4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84A92-33C2-046B-38D9-E1F1FFD42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938" y="2728533"/>
            <a:ext cx="9576121" cy="140093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Towards Improving Deep Embedded Document Clustering with long range text semantics and neighborhood documents information</a:t>
            </a: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29515-8880-A819-6BDC-2A3688A84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3486" y="4459344"/>
            <a:ext cx="5825024" cy="181413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MS Thesis-I Defense &amp; Thesis-II Proposal</a:t>
            </a:r>
          </a:p>
          <a:p>
            <a: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Author: S M Imran Abbas (24K-8021)</a:t>
            </a:r>
          </a:p>
          <a:p>
            <a: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Supervisor: Dr. Muhammad Rafi</a:t>
            </a:r>
          </a:p>
          <a:p>
            <a: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13</a:t>
            </a:r>
            <a:r>
              <a:rPr lang="en-US" sz="1800" baseline="30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May 2026</a:t>
            </a:r>
            <a:endParaRPr lang="en-US" sz="1800" baseline="30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03ABA1-4E1C-28D1-AF3F-FC3EDDDCF225}"/>
              </a:ext>
            </a:extLst>
          </p:cNvPr>
          <p:cNvSpPr/>
          <p:nvPr/>
        </p:nvSpPr>
        <p:spPr>
          <a:xfrm>
            <a:off x="5398622" y="314696"/>
            <a:ext cx="1394752" cy="1377698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22AC3-70FA-7060-15C0-FF35CDB4FC72}"/>
              </a:ext>
            </a:extLst>
          </p:cNvPr>
          <p:cNvSpPr txBox="1"/>
          <p:nvPr/>
        </p:nvSpPr>
        <p:spPr>
          <a:xfrm>
            <a:off x="2679057" y="2022271"/>
            <a:ext cx="6833886" cy="407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228600" algn="ctr">
              <a:lnSpc>
                <a:spcPct val="107000"/>
              </a:lnSpc>
              <a:buNone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National University of Computer and Emerging Sciences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06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0C9E7-92C1-65E2-5111-1660E195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0F055-E447-32EC-42E6-EB7C3873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901"/>
            <a:ext cx="10176545" cy="906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frameworks rely on two fundamental but distinct pillars to shift from two-stage clustering to unified optimization.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93D12-768F-F9AD-70CC-93CBD58EC814}"/>
              </a:ext>
            </a:extLst>
          </p:cNvPr>
          <p:cNvGrpSpPr/>
          <p:nvPr/>
        </p:nvGrpSpPr>
        <p:grpSpPr>
          <a:xfrm>
            <a:off x="1758388" y="2508803"/>
            <a:ext cx="8675223" cy="3702917"/>
            <a:chOff x="2678577" y="2612975"/>
            <a:chExt cx="8675223" cy="370291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8D4F35-292C-7CAF-66D3-2FDD6CD47EF9}"/>
                </a:ext>
              </a:extLst>
            </p:cNvPr>
            <p:cNvSpPr txBox="1"/>
            <p:nvPr/>
          </p:nvSpPr>
          <p:spPr>
            <a:xfrm>
              <a:off x="6096000" y="2653514"/>
              <a:ext cx="454692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Pillar 1: Semantic Representation</a:t>
              </a:r>
            </a:p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Driven by: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Transformers (e.g., BERT, SBERT)</a:t>
              </a:r>
            </a:p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Function: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Capturing long-range contextual dependencies and meaning within the text.</a:t>
              </a:r>
            </a:p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Focus: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‘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What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’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		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6C2C5F-8C46-3FA5-C98D-C7F51BDB5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8577" y="2612975"/>
              <a:ext cx="3206904" cy="16320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CA16EB-35D9-1681-314A-43D9A6C1F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8577" y="4593779"/>
              <a:ext cx="3206904" cy="1722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0F4DEF-6742-9075-DAB9-07C8BD9085DC}"/>
                </a:ext>
              </a:extLst>
            </p:cNvPr>
            <p:cNvSpPr txBox="1"/>
            <p:nvPr/>
          </p:nvSpPr>
          <p:spPr>
            <a:xfrm>
              <a:off x="6095999" y="4660453"/>
              <a:ext cx="525780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Pillar 2: Structural Relationships</a:t>
              </a:r>
            </a:p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Driven by: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 Convolutional Networks (GCNs)</a:t>
              </a:r>
            </a:p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Function: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Mapping global neighborhood relationships using K-Nearest Neighbor (KNN) graphs.</a:t>
              </a:r>
            </a:p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Focus: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'How They Connect'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57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3125-583F-6243-FF11-FD9D21B4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202E-358F-91BE-0768-FB41A1E0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916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90A25B-09E9-49D4-06FD-9B86D46CBCBD}"/>
              </a:ext>
            </a:extLst>
          </p:cNvPr>
          <p:cNvGrpSpPr/>
          <p:nvPr/>
        </p:nvGrpSpPr>
        <p:grpSpPr>
          <a:xfrm>
            <a:off x="791418" y="1690688"/>
            <a:ext cx="10609163" cy="3870581"/>
            <a:chOff x="838199" y="1493709"/>
            <a:chExt cx="10609163" cy="387058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B7DDE0-CE16-1C98-7CD2-D1AB1076AF49}"/>
                </a:ext>
              </a:extLst>
            </p:cNvPr>
            <p:cNvSpPr txBox="1"/>
            <p:nvPr/>
          </p:nvSpPr>
          <p:spPr>
            <a:xfrm>
              <a:off x="838199" y="1690688"/>
              <a:ext cx="52578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Failure 1: Semantic-Structural Misalignment</a:t>
              </a:r>
            </a:p>
            <a:p>
              <a:pPr algn="just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Models optimize both views simultaneously, but lack explicit mechanisms to enforce consistency. The structural topology and the semantic meaning drift apart.			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BCB66F-B7F7-D866-491D-201D480F108A}"/>
                </a:ext>
              </a:extLst>
            </p:cNvPr>
            <p:cNvSpPr txBox="1"/>
            <p:nvPr/>
          </p:nvSpPr>
          <p:spPr>
            <a:xfrm>
              <a:off x="838199" y="3689984"/>
              <a:ext cx="525780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Failure 2: Static Structural Assumptions</a:t>
              </a:r>
            </a:p>
            <a:p>
              <a:pPr algn="just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Graph-based clustering heavily relies on fixed graphs constructed early. As semantic embeddings evolve during training, rigid connections introduce noise and fail to adapt.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95BD53-0926-87E9-1FC0-1857C3578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9718" y="1493709"/>
              <a:ext cx="5057644" cy="3870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279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A9FF-88B1-0845-223F-FEF377A4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AA9B-2127-66AB-5844-6EC449CA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E854E-7787-5D76-1F8B-D54CD98BA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901"/>
            <a:ext cx="10515600" cy="906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Semantically Consistent, Structurally Robust Clustering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469930-C23F-977D-A97D-16E0669FEB80}"/>
              </a:ext>
            </a:extLst>
          </p:cNvPr>
          <p:cNvGrpSpPr/>
          <p:nvPr/>
        </p:nvGrpSpPr>
        <p:grpSpPr>
          <a:xfrm>
            <a:off x="1232580" y="2191177"/>
            <a:ext cx="9726840" cy="3505992"/>
            <a:chOff x="1002679" y="2400901"/>
            <a:chExt cx="9726840" cy="350599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9AE97BC-4CE9-4DA9-12D9-545292409A34}"/>
                </a:ext>
              </a:extLst>
            </p:cNvPr>
            <p:cNvSpPr txBox="1"/>
            <p:nvPr/>
          </p:nvSpPr>
          <p:spPr>
            <a:xfrm>
              <a:off x="5175811" y="2549342"/>
              <a:ext cx="555370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1: Semantic Refinement</a:t>
              </a:r>
            </a:p>
            <a:p>
              <a:pPr algn="just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Obtain long-range semantic representations using a Transformer encoder to continuously improve the understanding of document content during training.				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84DBD9-7F58-42B9-C46A-507FE317D800}"/>
                </a:ext>
              </a:extLst>
            </p:cNvPr>
            <p:cNvSpPr txBox="1"/>
            <p:nvPr/>
          </p:nvSpPr>
          <p:spPr>
            <a:xfrm>
              <a:off x="5175810" y="4556281"/>
              <a:ext cx="555370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 2: Adaptive Structural Modeling</a:t>
              </a:r>
            </a:p>
            <a:p>
              <a:pPr algn="just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Utilize neighborhood structural information via dynamically reconstructed graphs and GCN modeling to guide cluster refinement dynamically.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90CAEC-D3C8-016E-9336-33A4B7C6D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2679" y="2400901"/>
              <a:ext cx="3962613" cy="16455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2B00CF8-F529-4815-BE4A-0261F1F96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2679" y="4261339"/>
              <a:ext cx="3935681" cy="16455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98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57BD-B77A-CC89-B299-FBD5F32E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7990-3EEC-ED1F-2361-EE021AA3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B9F888-EB99-4910-E2CB-3641CEF74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48429"/>
              </p:ext>
            </p:extLst>
          </p:nvPr>
        </p:nvGraphicFramePr>
        <p:xfrm>
          <a:off x="838200" y="1560965"/>
          <a:ext cx="10515600" cy="3516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9408095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456518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264191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2095777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8799072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34488313"/>
                    </a:ext>
                  </a:extLst>
                </a:gridCol>
              </a:tblGrid>
              <a:tr h="94734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Semantics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(Transformers)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Topology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(GCNs)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Dynamics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Graphs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Cross-View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Contrastive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451946"/>
                  </a:ext>
                </a:extLst>
              </a:tr>
              <a:tr h="42783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IDEC [11]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0907"/>
                  </a:ext>
                </a:extLst>
              </a:tr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VaDE [12]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4215"/>
                  </a:ext>
                </a:extLst>
              </a:tr>
              <a:tr h="3808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SDCN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404210"/>
                  </a:ext>
                </a:extLst>
              </a:tr>
              <a:tr h="38589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DTSN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90630"/>
                  </a:ext>
                </a:extLst>
              </a:tr>
              <a:tr h="3691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DACL+ 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04510"/>
                  </a:ext>
                </a:extLst>
              </a:tr>
              <a:tr h="52133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18789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062BF6-BB01-A35E-AF7F-D8E055AA5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8670"/>
            <a:ext cx="10515600" cy="906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confirms existing SOTA models remain highly vulnerable to initial graph quality and lack adaptive architectural alignment.</a:t>
            </a:r>
          </a:p>
        </p:txBody>
      </p:sp>
    </p:spTree>
    <p:extLst>
      <p:ext uri="{BB962C8B-B14F-4D97-AF65-F5344CB8AC3E}">
        <p14:creationId xmlns:p14="http://schemas.microsoft.com/office/powerpoint/2010/main" val="381722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4026-ED65-06EB-1A5A-312185FD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C8CA-84B8-49BE-5F88-F4090EED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916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A7A9A3-065E-A30C-881D-03A9EB012795}"/>
              </a:ext>
            </a:extLst>
          </p:cNvPr>
          <p:cNvGrpSpPr/>
          <p:nvPr/>
        </p:nvGrpSpPr>
        <p:grpSpPr>
          <a:xfrm>
            <a:off x="658458" y="1510019"/>
            <a:ext cx="10497094" cy="4375923"/>
            <a:chOff x="658458" y="1510019"/>
            <a:chExt cx="10497094" cy="43759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A64AFC-D9B1-990D-BC9A-4B18E5D41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4952" y="1510019"/>
              <a:ext cx="3230600" cy="437592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ED2DA43-B529-6048-F88E-EAEF772EA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458" y="1510019"/>
              <a:ext cx="6974685" cy="4375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248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01A7-9FD2-B78E-0BA3-AAF3277F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FB15-967E-763C-AA29-92FD4E3A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916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772CD-E2F8-069E-3AAB-FBB40AB6ED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51"/>
          <a:stretch>
            <a:fillRect/>
          </a:stretch>
        </p:blipFill>
        <p:spPr>
          <a:xfrm>
            <a:off x="1628096" y="1690688"/>
            <a:ext cx="9029370" cy="376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7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43A81-99EF-8924-F7E2-F93E2B8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3CA5-87F0-6C8C-538A-A14DECA57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916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to Date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319E44-21CD-B6D3-2CDF-0B49547BCD04}"/>
              </a:ext>
            </a:extLst>
          </p:cNvPr>
          <p:cNvGrpSpPr/>
          <p:nvPr/>
        </p:nvGrpSpPr>
        <p:grpSpPr>
          <a:xfrm>
            <a:off x="947956" y="1601459"/>
            <a:ext cx="10560341" cy="4524315"/>
            <a:chOff x="947956" y="1601459"/>
            <a:chExt cx="10560341" cy="45243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C4F570-C57E-4DCD-AFC1-E86C65B5F9F8}"/>
                </a:ext>
              </a:extLst>
            </p:cNvPr>
            <p:cNvSpPr txBox="1"/>
            <p:nvPr/>
          </p:nvSpPr>
          <p:spPr>
            <a:xfrm>
              <a:off x="1854666" y="1601459"/>
              <a:ext cx="9653631" cy="452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Pipelines Configured: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Both TF-IDF and dense SBERT contextual embedding pipelines are fully operational.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Clustering Frameworks Built: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KMeans, IDEC, and SDCN deep clustering frameworks are implemented.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Structural Mechanics Completed: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KNN graph construction (cosine similarity) and sparse adjacency normalization processes are finalized.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Engine Finalized: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Automated experiment logging and metric tracking (ACC, NMI, ARI, Purity)active across benchmark datasets (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AGNews, BBC News, Reuters, 20-Newsgroups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DFD4D0B-80F1-C690-7F08-09871A3B04A5}"/>
                </a:ext>
              </a:extLst>
            </p:cNvPr>
            <p:cNvSpPr/>
            <p:nvPr/>
          </p:nvSpPr>
          <p:spPr>
            <a:xfrm>
              <a:off x="947956" y="1601459"/>
              <a:ext cx="796954" cy="780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✔️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51177E-CA46-1F80-70BE-5667D1E88071}"/>
                </a:ext>
              </a:extLst>
            </p:cNvPr>
            <p:cNvSpPr/>
            <p:nvPr/>
          </p:nvSpPr>
          <p:spPr>
            <a:xfrm>
              <a:off x="947956" y="2648824"/>
              <a:ext cx="796954" cy="780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✔️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B929181-4C0F-DCA6-A63C-AAE29B2D6A3E}"/>
                </a:ext>
              </a:extLst>
            </p:cNvPr>
            <p:cNvSpPr/>
            <p:nvPr/>
          </p:nvSpPr>
          <p:spPr>
            <a:xfrm>
              <a:off x="947956" y="3696190"/>
              <a:ext cx="796954" cy="780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✔️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C652263-B279-2B2E-4E9F-B954F06C5DFF}"/>
                </a:ext>
              </a:extLst>
            </p:cNvPr>
            <p:cNvSpPr/>
            <p:nvPr/>
          </p:nvSpPr>
          <p:spPr>
            <a:xfrm>
              <a:off x="947956" y="4743556"/>
              <a:ext cx="796954" cy="780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✔️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258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9DC3-6A6E-E064-CB51-632EDC186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061B-8A97-B613-FD5F-F569EAF3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916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&amp; Findings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5B5D6-FBD7-0043-A63C-C3DD36A07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775999" cy="421958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A0EB18-4B1B-3444-E1C9-91F0E20D8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125603"/>
              </p:ext>
            </p:extLst>
          </p:nvPr>
        </p:nvGraphicFramePr>
        <p:xfrm>
          <a:off x="6332968" y="1695189"/>
          <a:ext cx="2999105" cy="6661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226157251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397669248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96882327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35727278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3155509310"/>
                    </a:ext>
                  </a:extLst>
                </a:gridCol>
              </a:tblGrid>
              <a:tr h="22415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Encoder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ACC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NMI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ARI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 dirty="0">
                          <a:effectLst/>
                        </a:rPr>
                        <a:t>Purity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8572247"/>
                  </a:ext>
                </a:extLst>
              </a:tr>
              <a:tr h="21780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SBERT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0.6763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0.6135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0.538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0.7482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3414304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TF-IDF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0.4989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0.4265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0.3253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 dirty="0">
                          <a:effectLst/>
                        </a:rPr>
                        <a:t>0.5797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799765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048F1D5-B283-EE6A-EA4C-FF52328DF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20071"/>
              </p:ext>
            </p:extLst>
          </p:nvPr>
        </p:nvGraphicFramePr>
        <p:xfrm>
          <a:off x="6147353" y="2617722"/>
          <a:ext cx="3370334" cy="9263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0115">
                  <a:extLst>
                    <a:ext uri="{9D8B030D-6E8A-4147-A177-3AD203B41FA5}">
                      <a16:colId xmlns:a16="http://schemas.microsoft.com/office/drawing/2014/main" val="165066187"/>
                    </a:ext>
                  </a:extLst>
                </a:gridCol>
                <a:gridCol w="663960">
                  <a:extLst>
                    <a:ext uri="{9D8B030D-6E8A-4147-A177-3AD203B41FA5}">
                      <a16:colId xmlns:a16="http://schemas.microsoft.com/office/drawing/2014/main" val="2918674326"/>
                    </a:ext>
                  </a:extLst>
                </a:gridCol>
                <a:gridCol w="663960">
                  <a:extLst>
                    <a:ext uri="{9D8B030D-6E8A-4147-A177-3AD203B41FA5}">
                      <a16:colId xmlns:a16="http://schemas.microsoft.com/office/drawing/2014/main" val="1902992891"/>
                    </a:ext>
                  </a:extLst>
                </a:gridCol>
                <a:gridCol w="663960">
                  <a:extLst>
                    <a:ext uri="{9D8B030D-6E8A-4147-A177-3AD203B41FA5}">
                      <a16:colId xmlns:a16="http://schemas.microsoft.com/office/drawing/2014/main" val="476824072"/>
                    </a:ext>
                  </a:extLst>
                </a:gridCol>
                <a:gridCol w="618339">
                  <a:extLst>
                    <a:ext uri="{9D8B030D-6E8A-4147-A177-3AD203B41FA5}">
                      <a16:colId xmlns:a16="http://schemas.microsoft.com/office/drawing/2014/main" val="152664576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Model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ACC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NMI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ARI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Purity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9261369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IDEC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0.6407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0.5545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0.4783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0.7277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01273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KMeans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0.6184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0.5799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0.4587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0.6955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047654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 dirty="0">
                          <a:effectLst/>
                        </a:rPr>
                        <a:t>SDCN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0.5036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>
                          <a:effectLst/>
                        </a:rPr>
                        <a:t>0.4256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 dirty="0">
                          <a:effectLst/>
                        </a:rPr>
                        <a:t>0.3578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200" kern="0" dirty="0">
                          <a:effectLst/>
                        </a:rPr>
                        <a:t>0.5686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89393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5FBF274-98D6-94D3-C12D-3A4D96B52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216" y="3800479"/>
            <a:ext cx="5388610" cy="267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5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7E55-DED4-1089-7998-868D3ABD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7A9BE-2B21-D278-19BD-36B62AA6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916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952E2-35FC-6079-3D42-C376D16B998E}"/>
              </a:ext>
            </a:extLst>
          </p:cNvPr>
          <p:cNvSpPr txBox="1"/>
          <p:nvPr/>
        </p:nvSpPr>
        <p:spPr>
          <a:xfrm>
            <a:off x="744639" y="1434246"/>
            <a:ext cx="10702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deep clustering architectures (IDEC, SDCN) did not consistently out perform the simpler KMeans approach on dense SBERT embeddings. Why?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6F54231-B63D-4CBA-07CA-57FFA8994693}"/>
              </a:ext>
            </a:extLst>
          </p:cNvPr>
          <p:cNvGrpSpPr/>
          <p:nvPr/>
        </p:nvGrpSpPr>
        <p:grpSpPr>
          <a:xfrm>
            <a:off x="1854685" y="2370801"/>
            <a:ext cx="8482630" cy="3660957"/>
            <a:chOff x="1947937" y="2152687"/>
            <a:chExt cx="8482630" cy="366095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295F2AD-7FC1-07BF-B80F-44FE292BE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3031" y="2189587"/>
              <a:ext cx="2221799" cy="118616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10B10CB-7ED6-8FCD-A4C8-F240F1FD5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9506" y="2189587"/>
              <a:ext cx="2352987" cy="118616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5114C46-882D-7158-6519-A928615CD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47169" y="2152687"/>
              <a:ext cx="2352988" cy="121424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3CDDCF-117D-D1D9-4293-81EB04AE72AA}"/>
                </a:ext>
              </a:extLst>
            </p:cNvPr>
            <p:cNvSpPr txBox="1"/>
            <p:nvPr/>
          </p:nvSpPr>
          <p:spPr>
            <a:xfrm>
              <a:off x="1947937" y="3505320"/>
              <a:ext cx="248145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Semantic Distortion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Latent compression in standard autoencoders distorts the already high quality dense contextual embeddings provided by pretrained Transformers.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E1B1BC-578C-8E6E-85CF-BA7763D5AA30}"/>
                </a:ext>
              </a:extLst>
            </p:cNvPr>
            <p:cNvSpPr txBox="1"/>
            <p:nvPr/>
          </p:nvSpPr>
          <p:spPr>
            <a:xfrm>
              <a:off x="4919505" y="3505320"/>
              <a:ext cx="261380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 Sensitivity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Graph-based clustering proved extremely fragile when exposed to fixed KNN configurations, particularly on large, heterogeneous datasets like 20-Newsgroups.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0BB2E20-D595-0251-FC0E-FF7C64F96836}"/>
                </a:ext>
              </a:extLst>
            </p:cNvPr>
            <p:cNvSpPr txBox="1"/>
            <p:nvPr/>
          </p:nvSpPr>
          <p:spPr>
            <a:xfrm>
              <a:off x="7816758" y="3505320"/>
              <a:ext cx="261380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Optimization Instability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Multi-objective optimization remains highly sensitive to initial graph construction and centroid initialization, propagating noise rather than signal.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289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FC7A-2C21-F2DD-106F-B5D757A4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B963-0B5D-C490-B3B3-D8DE05B9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0916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Thesis-II Goals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87E07-1219-9707-EE50-E6933C3A5023}"/>
              </a:ext>
            </a:extLst>
          </p:cNvPr>
          <p:cNvSpPr txBox="1"/>
          <p:nvPr/>
        </p:nvSpPr>
        <p:spPr>
          <a:xfrm>
            <a:off x="1829700" y="1432307"/>
            <a:ext cx="89041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graphs and weak alignment actively harm deep clustering. Adaptive mechanisms are strictly required.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3F501-1E9B-0E02-68CA-4C8857553F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0" r="1292"/>
          <a:stretch>
            <a:fillRect/>
          </a:stretch>
        </p:blipFill>
        <p:spPr>
          <a:xfrm>
            <a:off x="1673475" y="2342001"/>
            <a:ext cx="8785917" cy="160763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6BD132A-BF81-5E71-4076-60419B6080A7}"/>
              </a:ext>
            </a:extLst>
          </p:cNvPr>
          <p:cNvGrpSpPr/>
          <p:nvPr/>
        </p:nvGrpSpPr>
        <p:grpSpPr>
          <a:xfrm>
            <a:off x="1673476" y="4075771"/>
            <a:ext cx="8845048" cy="2031326"/>
            <a:chOff x="1888832" y="3765378"/>
            <a:chExt cx="8845048" cy="20313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3F2930-28F5-F8C8-5B34-8C84FE6D34DD}"/>
                </a:ext>
              </a:extLst>
            </p:cNvPr>
            <p:cNvSpPr txBox="1"/>
            <p:nvPr/>
          </p:nvSpPr>
          <p:spPr>
            <a:xfrm>
              <a:off x="1888832" y="3765379"/>
              <a:ext cx="2062974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 mechanisms to periodically rebuild the KNN graph during training to capture evolving semantic realities.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F757FB-2781-9DD7-D0ED-71F4AE9A4A6B}"/>
                </a:ext>
              </a:extLst>
            </p:cNvPr>
            <p:cNvSpPr txBox="1"/>
            <p:nvPr/>
          </p:nvSpPr>
          <p:spPr>
            <a:xfrm>
              <a:off x="4230149" y="3765378"/>
              <a:ext cx="1865851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Introduce active Transformer-guided semantic refinement directly into the clustering optimization loop.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D48216-D169-094E-DFF7-494CD3877F61}"/>
                </a:ext>
              </a:extLst>
            </p:cNvPr>
            <p:cNvSpPr txBox="1"/>
            <p:nvPr/>
          </p:nvSpPr>
          <p:spPr>
            <a:xfrm>
              <a:off x="6252225" y="3765378"/>
              <a:ext cx="2266316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Introduce specific contrastive learning objectives to mathematically lock semantic embeddings with graph-based structural embeddings.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CBF37C-092B-A819-E771-89EB91F46F6E}"/>
                </a:ext>
              </a:extLst>
            </p:cNvPr>
            <p:cNvSpPr txBox="1"/>
            <p:nvPr/>
          </p:nvSpPr>
          <p:spPr>
            <a:xfrm>
              <a:off x="8518541" y="3796155"/>
              <a:ext cx="2215339" cy="20005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Finalize the unified loss framework</a:t>
              </a:r>
            </a:p>
            <a:p>
              <a:pPr algn="ctr"/>
              <a:r>
                <a: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(Lclus + Lstruct +Lcon)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conduct rigorous ablation studies across all benchmark datasets.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7672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8FBB-2FAE-F750-2DEC-8C580D9B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837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677</Words>
  <Application>Microsoft Office PowerPoint</Application>
  <PresentationFormat>Widescreen</PresentationFormat>
  <Paragraphs>151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Office Theme</vt:lpstr>
      <vt:lpstr>Towards Improving Deep Embedded Document Clustering with long range text semantics and neighborhood documents information</vt:lpstr>
      <vt:lpstr>Introduction &amp; Background</vt:lpstr>
      <vt:lpstr>Problems</vt:lpstr>
      <vt:lpstr>Research Objectives</vt:lpstr>
      <vt:lpstr>Literature Review</vt:lpstr>
      <vt:lpstr>Proposed Methodology</vt:lpstr>
      <vt:lpstr>Tools and Technologies</vt:lpstr>
      <vt:lpstr>Progress to Date</vt:lpstr>
      <vt:lpstr>Flow &amp; Findings</vt:lpstr>
      <vt:lpstr>Current Challenges </vt:lpstr>
      <vt:lpstr>MS Thesis-II Goals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Syed</dc:creator>
  <cp:lastModifiedBy>Muhammad Syed</cp:lastModifiedBy>
  <cp:revision>43</cp:revision>
  <dcterms:created xsi:type="dcterms:W3CDTF">2026-05-13T10:22:41Z</dcterms:created>
  <dcterms:modified xsi:type="dcterms:W3CDTF">2026-05-13T19:25:51Z</dcterms:modified>
</cp:coreProperties>
</file>